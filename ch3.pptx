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0"/>
  </p:notesMasterIdLst>
  <p:handoutMasterIdLst>
    <p:handoutMasterId r:id="rId61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6" r:id="rId22"/>
    <p:sldId id="357" r:id="rId23"/>
    <p:sldId id="358" r:id="rId24"/>
    <p:sldId id="359" r:id="rId25"/>
    <p:sldId id="403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404" r:id="rId34"/>
    <p:sldId id="370" r:id="rId35"/>
    <p:sldId id="371" r:id="rId36"/>
    <p:sldId id="402" r:id="rId37"/>
    <p:sldId id="373" r:id="rId38"/>
    <p:sldId id="374" r:id="rId39"/>
    <p:sldId id="375" r:id="rId40"/>
    <p:sldId id="377" r:id="rId41"/>
    <p:sldId id="379" r:id="rId42"/>
    <p:sldId id="380" r:id="rId43"/>
    <p:sldId id="381" r:id="rId44"/>
    <p:sldId id="382" r:id="rId45"/>
    <p:sldId id="383" r:id="rId46"/>
    <p:sldId id="384" r:id="rId47"/>
    <p:sldId id="385" r:id="rId48"/>
    <p:sldId id="387" r:id="rId49"/>
    <p:sldId id="388" r:id="rId50"/>
    <p:sldId id="389" r:id="rId51"/>
    <p:sldId id="390" r:id="rId52"/>
    <p:sldId id="391" r:id="rId53"/>
    <p:sldId id="392" r:id="rId54"/>
    <p:sldId id="393" r:id="rId55"/>
    <p:sldId id="394" r:id="rId56"/>
    <p:sldId id="395" r:id="rId57"/>
    <p:sldId id="396" r:id="rId58"/>
    <p:sldId id="397" r:id="rId59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C5BF2-AAB4-4B85-ABFE-26E58D2E19BB}" v="7" dt="2026-01-29T16:02:1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101" d="100"/>
          <a:sy n="101" d="100"/>
        </p:scale>
        <p:origin x="1638" y="10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foury, Elie" userId="84109d90-edd2-4b66-aa0c-6442e64be8d1" providerId="ADAL" clId="{E1A3DB5E-400C-421D-B425-D39B4B3DBC77}"/>
    <pc:docChg chg="delSld modSld">
      <pc:chgData name="Kfoury, Elie" userId="84109d90-edd2-4b66-aa0c-6442e64be8d1" providerId="ADAL" clId="{E1A3DB5E-400C-421D-B425-D39B4B3DBC77}" dt="2026-01-29T16:03:01.198" v="132" actId="15"/>
      <pc:docMkLst>
        <pc:docMk/>
      </pc:docMkLst>
      <pc:sldChg chg="modSp mod">
        <pc:chgData name="Kfoury, Elie" userId="84109d90-edd2-4b66-aa0c-6442e64be8d1" providerId="ADAL" clId="{E1A3DB5E-400C-421D-B425-D39B4B3DBC77}" dt="2026-01-22T16:51:22.961" v="108" actId="20577"/>
        <pc:sldMkLst>
          <pc:docMk/>
          <pc:sldMk cId="0" sldId="342"/>
        </pc:sldMkLst>
        <pc:spChg chg="mod">
          <ac:chgData name="Kfoury, Elie" userId="84109d90-edd2-4b66-aa0c-6442e64be8d1" providerId="ADAL" clId="{E1A3DB5E-400C-421D-B425-D39B4B3DBC77}" dt="2026-01-22T16:51:22.961" v="108" actId="20577"/>
          <ac:spMkLst>
            <pc:docMk/>
            <pc:sldMk cId="0" sldId="342"/>
            <ac:spMk id="10242" creationId="{00000000-0000-0000-0000-000000000000}"/>
          </ac:spMkLst>
        </pc:spChg>
      </pc:sldChg>
      <pc:sldChg chg="modSp mod">
        <pc:chgData name="Kfoury, Elie" userId="84109d90-edd2-4b66-aa0c-6442e64be8d1" providerId="ADAL" clId="{E1A3DB5E-400C-421D-B425-D39B4B3DBC77}" dt="2026-01-22T16:11:01.680" v="4" actId="20577"/>
        <pc:sldMkLst>
          <pc:docMk/>
          <pc:sldMk cId="0" sldId="384"/>
        </pc:sldMkLst>
        <pc:spChg chg="mod">
          <ac:chgData name="Kfoury, Elie" userId="84109d90-edd2-4b66-aa0c-6442e64be8d1" providerId="ADAL" clId="{E1A3DB5E-400C-421D-B425-D39B4B3DBC77}" dt="2026-01-22T16:11:01.680" v="4" actId="20577"/>
          <ac:spMkLst>
            <pc:docMk/>
            <pc:sldMk cId="0" sldId="384"/>
            <ac:spMk id="458754" creationId="{00000000-0000-0000-0000-000000000000}"/>
          </ac:spMkLst>
        </pc:spChg>
      </pc:sldChg>
      <pc:sldChg chg="modSp mod">
        <pc:chgData name="Kfoury, Elie" userId="84109d90-edd2-4b66-aa0c-6442e64be8d1" providerId="ADAL" clId="{E1A3DB5E-400C-421D-B425-D39B4B3DBC77}" dt="2026-01-29T16:03:01.198" v="132" actId="15"/>
        <pc:sldMkLst>
          <pc:docMk/>
          <pc:sldMk cId="0" sldId="390"/>
        </pc:sldMkLst>
        <pc:spChg chg="mod">
          <ac:chgData name="Kfoury, Elie" userId="84109d90-edd2-4b66-aa0c-6442e64be8d1" providerId="ADAL" clId="{E1A3DB5E-400C-421D-B425-D39B4B3DBC77}" dt="2026-01-29T16:03:01.198" v="132" actId="15"/>
          <ac:spMkLst>
            <pc:docMk/>
            <pc:sldMk cId="0" sldId="390"/>
            <ac:spMk id="6349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24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52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5618446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i="1" dirty="0"/>
          </a:p>
          <a:p>
            <a:pPr>
              <a:buNone/>
            </a:pPr>
            <a:r>
              <a:rPr lang="en-US" altLang="en-US" sz="1700" i="1" dirty="0"/>
              <a:t>NOTE: </a:t>
            </a:r>
            <a:r>
              <a:rPr lang="en-US" altLang="en-US" i="1" dirty="0"/>
              <a:t>In MySQL, you must write the attribute name too after references:</a:t>
            </a:r>
          </a:p>
          <a:p>
            <a:pPr>
              <a:buNone/>
            </a:pPr>
            <a:r>
              <a:rPr lang="en-US" altLang="en-US" i="1" dirty="0"/>
              <a:t> </a:t>
            </a:r>
            <a:r>
              <a:rPr lang="en-US" altLang="en-US" b="1" dirty="0"/>
              <a:t>foreign key </a:t>
            </a:r>
            <a:r>
              <a:rPr lang="en-US" altLang="en-US" i="1" dirty="0"/>
              <a:t>(</a:t>
            </a:r>
            <a:r>
              <a:rPr lang="en-US" altLang="en-US" i="1" dirty="0" err="1"/>
              <a:t>dept_name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department(</a:t>
            </a:r>
            <a:r>
              <a:rPr lang="en-US" altLang="en-US" i="1" dirty="0" err="1"/>
              <a:t>dept_name</a:t>
            </a:r>
            <a:r>
              <a:rPr lang="en-US" altLang="en-US" i="1" dirty="0"/>
              <a:t>) );</a:t>
            </a:r>
          </a:p>
          <a:p>
            <a:pPr>
              <a:buNone/>
            </a:pPr>
            <a:endParaRPr lang="en-US" altLang="en-US" sz="1700" i="1" dirty="0"/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 with  no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ja-JP" sz="1700" dirty="0"/>
              <a:t>'</a:t>
            </a:r>
            <a:r>
              <a:rPr lang="en-US" altLang="en-US" sz="1700" dirty="0"/>
              <a:t>437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                   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'437'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FOO</a:t>
            </a:r>
            <a:r>
              <a:rPr lang="en-US" altLang="en-US" sz="1700" dirty="0"/>
              <a:t>	</a:t>
            </a: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with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en-US" sz="1700" dirty="0"/>
              <a:t>'A'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 is a table with one column and </a:t>
            </a:r>
            <a:r>
              <a:rPr lang="en-US" altLang="en-US" sz="1700" i="1" dirty="0"/>
              <a:t>N</a:t>
            </a:r>
            <a:r>
              <a:rPr lang="en-US" altLang="en-US" sz="1700" dirty="0"/>
              <a:t> rows (number of tuples in the </a:t>
            </a:r>
            <a:r>
              <a:rPr lang="en-US" altLang="en-US" sz="1700" i="1" dirty="0"/>
              <a:t>instructors</a:t>
            </a:r>
            <a:r>
              <a:rPr lang="en-US" altLang="en-US" sz="1700" dirty="0"/>
              <a:t> table), each row with value “A”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1106489"/>
            <a:ext cx="4821288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75A09EE-C151-4256-9EE2-5AAE5DB9B9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705" t="875" r="32623" b="14122"/>
          <a:stretch/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340786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93800"/>
            <a:ext cx="7829631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677988" y="1870710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693385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Note: Above query can be written in a much simpler manner.  </a:t>
            </a:r>
            <a:br>
              <a:rPr lang="en-US" altLang="en-US" sz="1700" dirty="0"/>
            </a:br>
            <a:r>
              <a:rPr lang="en-US" altLang="en-US" sz="1700" dirty="0"/>
              <a:t>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5" y="3311288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/>
              <a:t>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1700" dirty="0"/>
              <a:t>Yet another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736500" y="1785366"/>
            <a:ext cx="683447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From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/>
              <a:t>avg</a:t>
            </a:r>
            <a:r>
              <a:rPr lang="en-US" altLang="en-US" dirty="0"/>
              <a:t> or retesting the tuples)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marL="1143000" lvl="3" indent="0">
              <a:spcBef>
                <a:spcPts val="0"/>
              </a:spcBef>
              <a:buNone/>
              <a:tabLst>
                <a:tab pos="1370013" algn="l"/>
                <a:tab pos="3140075" algn="l"/>
              </a:tabLst>
            </a:pPr>
            <a:r>
              <a:rPr lang="en-US" altLang="en-US" sz="1400" b="1" dirty="0"/>
              <a:t>WITH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avg_sal</a:t>
            </a:r>
            <a:r>
              <a:rPr lang="en-US" altLang="en-US" sz="1400" dirty="0"/>
              <a:t> </a:t>
            </a:r>
            <a:r>
              <a:rPr lang="en-US" altLang="en-US" sz="1400" b="1" dirty="0"/>
              <a:t>AS </a:t>
            </a:r>
            <a:r>
              <a:rPr lang="en-US" altLang="en-US" sz="1400" dirty="0"/>
              <a:t>(</a:t>
            </a:r>
          </a:p>
          <a:p>
            <a:pPr marL="1143000" lvl="3" indent="0">
              <a:spcBef>
                <a:spcPts val="0"/>
              </a:spcBef>
              <a:buNone/>
              <a:tabLst>
                <a:tab pos="1370013" algn="l"/>
                <a:tab pos="3140075" algn="l"/>
              </a:tabLst>
            </a:pPr>
            <a:r>
              <a:rPr lang="en-US" altLang="en-US" sz="1400" dirty="0"/>
              <a:t>    </a:t>
            </a:r>
            <a:r>
              <a:rPr lang="en-US" altLang="en-US" sz="1400" b="1" dirty="0"/>
              <a:t>SELECT </a:t>
            </a:r>
            <a:r>
              <a:rPr lang="en-US" altLang="en-US" sz="1400" dirty="0"/>
              <a:t>AVG(salary) </a:t>
            </a:r>
            <a:r>
              <a:rPr lang="en-US" altLang="en-US" sz="1400" b="1" dirty="0"/>
              <a:t>AS </a:t>
            </a:r>
            <a:r>
              <a:rPr lang="en-US" altLang="en-US" sz="1400" dirty="0" err="1"/>
              <a:t>avg_salary</a:t>
            </a:r>
            <a:endParaRPr lang="en-US" altLang="en-US" sz="1400" dirty="0"/>
          </a:p>
          <a:p>
            <a:pPr marL="1143000" lvl="3" indent="0">
              <a:spcBef>
                <a:spcPts val="0"/>
              </a:spcBef>
              <a:buNone/>
              <a:tabLst>
                <a:tab pos="1370013" algn="l"/>
                <a:tab pos="3140075" algn="l"/>
              </a:tabLst>
            </a:pPr>
            <a:r>
              <a:rPr lang="en-US" altLang="en-US" sz="1400" dirty="0"/>
              <a:t>    </a:t>
            </a:r>
            <a:r>
              <a:rPr lang="en-US" altLang="en-US" sz="1400" b="1" dirty="0"/>
              <a:t>FROM </a:t>
            </a:r>
            <a:r>
              <a:rPr lang="en-US" altLang="en-US" sz="1400" dirty="0"/>
              <a:t>instructor</a:t>
            </a:r>
          </a:p>
          <a:p>
            <a:pPr marL="1143000" lvl="3" indent="0">
              <a:spcBef>
                <a:spcPts val="0"/>
              </a:spcBef>
              <a:buNone/>
              <a:tabLst>
                <a:tab pos="1370013" algn="l"/>
                <a:tab pos="3140075" algn="l"/>
              </a:tabLst>
            </a:pPr>
            <a:r>
              <a:rPr lang="en-US" altLang="en-US" sz="1400" dirty="0"/>
              <a:t>)</a:t>
            </a:r>
          </a:p>
          <a:p>
            <a:pPr marL="1143000" lvl="3" indent="0">
              <a:spcBef>
                <a:spcPts val="0"/>
              </a:spcBef>
              <a:buNone/>
              <a:tabLst>
                <a:tab pos="1370013" algn="l"/>
                <a:tab pos="3140075" algn="l"/>
              </a:tabLst>
            </a:pPr>
            <a:r>
              <a:rPr lang="en-US" altLang="en-US" sz="1400" b="1" dirty="0"/>
              <a:t>UPDATE </a:t>
            </a:r>
            <a:r>
              <a:rPr lang="en-US" altLang="en-US" sz="1400" dirty="0"/>
              <a:t>instructor</a:t>
            </a:r>
          </a:p>
          <a:p>
            <a:pPr marL="1143000" lvl="3" indent="0">
              <a:spcBef>
                <a:spcPts val="0"/>
              </a:spcBef>
              <a:buNone/>
              <a:tabLst>
                <a:tab pos="1370013" algn="l"/>
                <a:tab pos="3140075" algn="l"/>
              </a:tabLst>
            </a:pPr>
            <a:r>
              <a:rPr lang="en-US" altLang="en-US" sz="1400" b="1" dirty="0"/>
              <a:t>SET </a:t>
            </a:r>
            <a:r>
              <a:rPr lang="en-US" altLang="en-US" sz="1400" dirty="0"/>
              <a:t>salary = salary * 1.05</a:t>
            </a:r>
          </a:p>
          <a:p>
            <a:pPr marL="1143000" lvl="3" indent="0">
              <a:spcBef>
                <a:spcPts val="0"/>
              </a:spcBef>
              <a:buNone/>
              <a:tabLst>
                <a:tab pos="1370013" algn="l"/>
                <a:tab pos="3140075" algn="l"/>
              </a:tabLst>
            </a:pPr>
            <a:r>
              <a:rPr lang="en-US" altLang="en-US" sz="1400" b="1" dirty="0"/>
              <a:t>WHERE </a:t>
            </a:r>
            <a:r>
              <a:rPr lang="en-US" altLang="en-US" sz="1400" dirty="0"/>
              <a:t>salary &lt; (</a:t>
            </a:r>
            <a:r>
              <a:rPr lang="en-US" altLang="en-US" sz="1400" b="1" dirty="0"/>
              <a:t>SELECT </a:t>
            </a:r>
            <a:r>
              <a:rPr lang="en-US" altLang="en-US" sz="1400" dirty="0" err="1"/>
              <a:t>avg_salary</a:t>
            </a:r>
            <a:r>
              <a:rPr lang="en-US" altLang="en-US" sz="1400" dirty="0"/>
              <a:t> </a:t>
            </a:r>
            <a:r>
              <a:rPr lang="en-US" altLang="en-US" sz="1400" b="1" dirty="0"/>
              <a:t>FROM </a:t>
            </a:r>
            <a:r>
              <a:rPr lang="en-US" altLang="en-US" sz="1400" dirty="0" err="1"/>
              <a:t>avg_sal</a:t>
            </a:r>
            <a:r>
              <a:rPr lang="en-US" altLang="en-US" sz="1400" dirty="0"/>
              <a:t>);</a:t>
            </a:r>
          </a:p>
          <a:p>
            <a:pPr lvl="1">
              <a:spcBef>
                <a:spcPts val="0"/>
              </a:spcBef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692402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92764</TotalTime>
  <Words>4999</Words>
  <Application>Microsoft Office PowerPoint</Application>
  <PresentationFormat>On-screen Show (4:3)</PresentationFormat>
  <Paragraphs>530</Paragraphs>
  <Slides>58</Slides>
  <Notes>57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  <vt:variant>
        <vt:lpstr>Custom Shows</vt:lpstr>
      </vt:variant>
      <vt:variant>
        <vt:i4>1</vt:i4>
      </vt:variant>
    </vt:vector>
  </HeadingPairs>
  <TitlesOfParts>
    <vt:vector size="68" baseType="lpstr">
      <vt:lpstr>Arial</vt:lpstr>
      <vt:lpstr>Century Gothic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Examples</vt:lpstr>
      <vt:lpstr>The Rename Operation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Set Comparison – “all” Clause</vt:lpstr>
      <vt:lpstr>Test for Empty Relations</vt:lpstr>
      <vt:lpstr>Use of “exists” Clause</vt:lpstr>
      <vt:lpstr>Use of “not exists” Clause</vt:lpstr>
      <vt:lpstr>Test for Absence of Duplicate Tuples</vt:lpstr>
      <vt:lpstr>Subqueries in the From Clause</vt:lpstr>
      <vt:lpstr>Subqueries in the From Clause</vt:lpstr>
      <vt:lpstr>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Kfoury, Elie</cp:lastModifiedBy>
  <cp:revision>474</cp:revision>
  <cp:lastPrinted>1999-06-28T19:27:31Z</cp:lastPrinted>
  <dcterms:created xsi:type="dcterms:W3CDTF">2009-12-21T15:40:22Z</dcterms:created>
  <dcterms:modified xsi:type="dcterms:W3CDTF">2026-01-29T16:03:12Z</dcterms:modified>
</cp:coreProperties>
</file>